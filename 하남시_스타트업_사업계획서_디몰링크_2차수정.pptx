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2" r:id="rId25"/>
    <p:sldId id="273" r:id="rId26"/>
    <p:sldId id="274" r:id="rId27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005DCB-7CE9-4035-9CA9-62EDA63E6213}" v="5" dt="2026-08-08T01:01:33.1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8" y="1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  <Relationship Id="rId25" Type="http://schemas.openxmlformats.org/officeDocument/2006/relationships/slide" Target="slides/slide17.xml"/>
  <Relationship Id="rId26" Type="http://schemas.openxmlformats.org/officeDocument/2006/relationships/slide" Target="slides/slide18.xml"/>
  <Relationship Id="rId27" Type="http://schemas.openxmlformats.org/officeDocument/2006/relationships/slide" Target="slides/slide19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재원 허" userId="49a1ab6f79ab220e" providerId="LiveId" clId="{22EB940E-E49D-496A-99D2-65AF2B988883}"/>
    <pc:docChg chg="undo redo custSel modSld">
      <pc:chgData name="재원 허" userId="49a1ab6f79ab220e" providerId="LiveId" clId="{22EB940E-E49D-496A-99D2-65AF2B988883}" dt="2026-08-08T01:04:13.634" v="847" actId="1076"/>
      <pc:docMkLst>
        <pc:docMk/>
      </pc:docMkLst>
      <pc:sldChg chg="modSp mod">
        <pc:chgData name="재원 허" userId="49a1ab6f79ab220e" providerId="LiveId" clId="{22EB940E-E49D-496A-99D2-65AF2B988883}" dt="2026-08-08T00:52:38.438" v="305" actId="20577"/>
        <pc:sldMkLst>
          <pc:docMk/>
          <pc:sldMk cId="0" sldId="259"/>
        </pc:sldMkLst>
        <pc:spChg chg="mod">
          <ac:chgData name="재원 허" userId="49a1ab6f79ab220e" providerId="LiveId" clId="{22EB940E-E49D-496A-99D2-65AF2B988883}" dt="2026-08-08T00:50:30.555" v="79" actId="20577"/>
          <ac:spMkLst>
            <pc:docMk/>
            <pc:sldMk cId="0" sldId="259"/>
            <ac:spMk id="9" creationId="{00000000-0000-0000-0000-000000000000}"/>
          </ac:spMkLst>
        </pc:spChg>
        <pc:spChg chg="mod">
          <ac:chgData name="재원 허" userId="49a1ab6f79ab220e" providerId="LiveId" clId="{22EB940E-E49D-496A-99D2-65AF2B988883}" dt="2026-08-08T00:51:13.957" v="180" actId="2057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재원 허" userId="49a1ab6f79ab220e" providerId="LiveId" clId="{22EB940E-E49D-496A-99D2-65AF2B988883}" dt="2026-08-08T00:52:38.438" v="305" actId="20577"/>
          <ac:spMkLst>
            <pc:docMk/>
            <pc:sldMk cId="0" sldId="259"/>
            <ac:spMk id="24" creationId="{00000000-0000-0000-0000-000000000000}"/>
          </ac:spMkLst>
        </pc:spChg>
      </pc:sldChg>
      <pc:sldChg chg="modSp mod">
        <pc:chgData name="재원 허" userId="49a1ab6f79ab220e" providerId="LiveId" clId="{22EB940E-E49D-496A-99D2-65AF2B988883}" dt="2026-08-08T00:52:56.730" v="318" actId="20577"/>
        <pc:sldMkLst>
          <pc:docMk/>
          <pc:sldMk cId="0" sldId="260"/>
        </pc:sldMkLst>
        <pc:spChg chg="mod">
          <ac:chgData name="재원 허" userId="49a1ab6f79ab220e" providerId="LiveId" clId="{22EB940E-E49D-496A-99D2-65AF2B988883}" dt="2026-08-08T00:52:56.730" v="318" actId="20577"/>
          <ac:spMkLst>
            <pc:docMk/>
            <pc:sldMk cId="0" sldId="260"/>
            <ac:spMk id="12" creationId="{00000000-0000-0000-0000-000000000000}"/>
          </ac:spMkLst>
        </pc:spChg>
      </pc:sldChg>
      <pc:sldChg chg="modSp mod">
        <pc:chgData name="재원 허" userId="49a1ab6f79ab220e" providerId="LiveId" clId="{22EB940E-E49D-496A-99D2-65AF2B988883}" dt="2026-08-08T00:54:03.965" v="466" actId="20577"/>
        <pc:sldMkLst>
          <pc:docMk/>
          <pc:sldMk cId="0" sldId="261"/>
        </pc:sldMkLst>
        <pc:spChg chg="mod">
          <ac:chgData name="재원 허" userId="49a1ab6f79ab220e" providerId="LiveId" clId="{22EB940E-E49D-496A-99D2-65AF2B988883}" dt="2026-08-08T00:54:03.965" v="466" actId="20577"/>
          <ac:spMkLst>
            <pc:docMk/>
            <pc:sldMk cId="0" sldId="261"/>
            <ac:spMk id="9" creationId="{00000000-0000-0000-0000-000000000000}"/>
          </ac:spMkLst>
        </pc:spChg>
      </pc:sldChg>
      <pc:sldChg chg="modSp mod">
        <pc:chgData name="재원 허" userId="49a1ab6f79ab220e" providerId="LiveId" clId="{22EB940E-E49D-496A-99D2-65AF2B988883}" dt="2026-08-08T00:57:04.003" v="507" actId="20577"/>
        <pc:sldMkLst>
          <pc:docMk/>
          <pc:sldMk cId="0" sldId="262"/>
        </pc:sldMkLst>
        <pc:graphicFrameChg chg="modGraphic">
          <ac:chgData name="재원 허" userId="49a1ab6f79ab220e" providerId="LiveId" clId="{22EB940E-E49D-496A-99D2-65AF2B988883}" dt="2026-08-08T00:57:04.003" v="507" actId="20577"/>
          <ac:graphicFrameMkLst>
            <pc:docMk/>
            <pc:sldMk cId="0" sldId="262"/>
            <ac:graphicFrameMk id="8" creationId="{00000000-0000-0000-0000-000000000000}"/>
          </ac:graphicFrameMkLst>
        </pc:graphicFrameChg>
      </pc:sldChg>
      <pc:sldChg chg="modSp mod">
        <pc:chgData name="재원 허" userId="49a1ab6f79ab220e" providerId="LiveId" clId="{22EB940E-E49D-496A-99D2-65AF2B988883}" dt="2026-08-08T00:57:53.261" v="535" actId="20577"/>
        <pc:sldMkLst>
          <pc:docMk/>
          <pc:sldMk cId="0" sldId="263"/>
        </pc:sldMkLst>
        <pc:spChg chg="mod">
          <ac:chgData name="재원 허" userId="49a1ab6f79ab220e" providerId="LiveId" clId="{22EB940E-E49D-496A-99D2-65AF2B988883}" dt="2026-08-08T00:57:53.261" v="535" actId="20577"/>
          <ac:spMkLst>
            <pc:docMk/>
            <pc:sldMk cId="0" sldId="263"/>
            <ac:spMk id="10" creationId="{00000000-0000-0000-0000-000000000000}"/>
          </ac:spMkLst>
        </pc:spChg>
        <pc:graphicFrameChg chg="modGraphic">
          <ac:chgData name="재원 허" userId="49a1ab6f79ab220e" providerId="LiveId" clId="{22EB940E-E49D-496A-99D2-65AF2B988883}" dt="2026-08-08T00:57:35.358" v="520" actId="20577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  <pc:sldChg chg="modSp mod">
        <pc:chgData name="재원 허" userId="49a1ab6f79ab220e" providerId="LiveId" clId="{22EB940E-E49D-496A-99D2-65AF2B988883}" dt="2026-08-08T00:58:12.979" v="544" actId="20577"/>
        <pc:sldMkLst>
          <pc:docMk/>
          <pc:sldMk cId="0" sldId="264"/>
        </pc:sldMkLst>
        <pc:spChg chg="mod">
          <ac:chgData name="재원 허" userId="49a1ab6f79ab220e" providerId="LiveId" clId="{22EB940E-E49D-496A-99D2-65AF2B988883}" dt="2026-08-08T00:58:12.979" v="544" actId="20577"/>
          <ac:spMkLst>
            <pc:docMk/>
            <pc:sldMk cId="0" sldId="264"/>
            <ac:spMk id="15" creationId="{00000000-0000-0000-0000-000000000000}"/>
          </ac:spMkLst>
        </pc:spChg>
      </pc:sldChg>
      <pc:sldChg chg="modSp mod">
        <pc:chgData name="재원 허" userId="49a1ab6f79ab220e" providerId="LiveId" clId="{22EB940E-E49D-496A-99D2-65AF2B988883}" dt="2026-08-08T00:59:18.213" v="594" actId="122"/>
        <pc:sldMkLst>
          <pc:docMk/>
          <pc:sldMk cId="0" sldId="266"/>
        </pc:sldMkLst>
        <pc:graphicFrameChg chg="modGraphic">
          <ac:chgData name="재원 허" userId="49a1ab6f79ab220e" providerId="LiveId" clId="{22EB940E-E49D-496A-99D2-65AF2B988883}" dt="2026-08-08T00:59:18.213" v="594" actId="122"/>
          <ac:graphicFrameMkLst>
            <pc:docMk/>
            <pc:sldMk cId="0" sldId="266"/>
            <ac:graphicFrameMk id="12" creationId="{00000000-0000-0000-0000-000000000000}"/>
          </ac:graphicFrameMkLst>
        </pc:graphicFrameChg>
      </pc:sldChg>
      <pc:sldChg chg="modSp mod">
        <pc:chgData name="재원 허" userId="49a1ab6f79ab220e" providerId="LiveId" clId="{22EB940E-E49D-496A-99D2-65AF2B988883}" dt="2026-08-08T01:01:44.903" v="827" actId="20577"/>
        <pc:sldMkLst>
          <pc:docMk/>
          <pc:sldMk cId="0" sldId="267"/>
        </pc:sldMkLst>
        <pc:spChg chg="mod">
          <ac:chgData name="재원 허" userId="49a1ab6f79ab220e" providerId="LiveId" clId="{22EB940E-E49D-496A-99D2-65AF2B988883}" dt="2026-08-08T00:59:57.535" v="648" actId="1076"/>
          <ac:spMkLst>
            <pc:docMk/>
            <pc:sldMk cId="0" sldId="267"/>
            <ac:spMk id="7" creationId="{00000000-0000-0000-0000-000000000000}"/>
          </ac:spMkLst>
        </pc:spChg>
        <pc:spChg chg="mod">
          <ac:chgData name="재원 허" userId="49a1ab6f79ab220e" providerId="LiveId" clId="{22EB940E-E49D-496A-99D2-65AF2B988883}" dt="2026-08-08T01:00:10.629" v="705" actId="20577"/>
          <ac:spMkLst>
            <pc:docMk/>
            <pc:sldMk cId="0" sldId="267"/>
            <ac:spMk id="8" creationId="{00000000-0000-0000-0000-000000000000}"/>
          </ac:spMkLst>
        </pc:spChg>
        <pc:spChg chg="mod">
          <ac:chgData name="재원 허" userId="49a1ab6f79ab220e" providerId="LiveId" clId="{22EB940E-E49D-496A-99D2-65AF2B988883}" dt="2026-08-08T00:59:51.606" v="645" actId="107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재원 허" userId="49a1ab6f79ab220e" providerId="LiveId" clId="{22EB940E-E49D-496A-99D2-65AF2B988883}" dt="2026-08-08T01:01:44.903" v="827" actId="20577"/>
          <ac:spMkLst>
            <pc:docMk/>
            <pc:sldMk cId="0" sldId="267"/>
            <ac:spMk id="12" creationId="{00000000-0000-0000-0000-000000000000}"/>
          </ac:spMkLst>
        </pc:spChg>
        <pc:graphicFrameChg chg="modGraphic">
          <ac:chgData name="재원 허" userId="49a1ab6f79ab220e" providerId="LiveId" clId="{22EB940E-E49D-496A-99D2-65AF2B988883}" dt="2026-08-08T00:59:47.519" v="643" actId="122"/>
          <ac:graphicFrameMkLst>
            <pc:docMk/>
            <pc:sldMk cId="0" sldId="267"/>
            <ac:graphicFrameMk id="13" creationId="{00000000-0000-0000-0000-000000000000}"/>
          </ac:graphicFrameMkLst>
        </pc:graphicFrameChg>
      </pc:sldChg>
      <pc:sldChg chg="delSp modSp mod">
        <pc:chgData name="재원 허" userId="49a1ab6f79ab220e" providerId="LiveId" clId="{22EB940E-E49D-496A-99D2-65AF2B988883}" dt="2026-08-08T01:04:13.634" v="847" actId="1076"/>
        <pc:sldMkLst>
          <pc:docMk/>
          <pc:sldMk cId="0" sldId="269"/>
        </pc:sldMkLst>
        <pc:spChg chg="del">
          <ac:chgData name="재원 허" userId="49a1ab6f79ab220e" providerId="LiveId" clId="{22EB940E-E49D-496A-99D2-65AF2B988883}" dt="2026-08-08T01:02:51.864" v="830" actId="21"/>
          <ac:spMkLst>
            <pc:docMk/>
            <pc:sldMk cId="0" sldId="269"/>
            <ac:spMk id="7" creationId="{00000000-0000-0000-0000-000000000000}"/>
          </ac:spMkLst>
        </pc:spChg>
        <pc:graphicFrameChg chg="mod modGraphic">
          <ac:chgData name="재원 허" userId="49a1ab6f79ab220e" providerId="LiveId" clId="{22EB940E-E49D-496A-99D2-65AF2B988883}" dt="2026-08-08T01:04:13.634" v="847" actId="1076"/>
          <ac:graphicFrameMkLst>
            <pc:docMk/>
            <pc:sldMk cId="0" sldId="269"/>
            <ac:graphicFrameMk id="15" creationId="{00000000-0000-0000-0000-000000000000}"/>
          </ac:graphicFrameMkLst>
        </pc:graphicFrameChg>
      </pc:sldChg>
      <pc:sldChg chg="modSp mod">
        <pc:chgData name="재원 허" userId="49a1ab6f79ab220e" providerId="LiveId" clId="{22EB940E-E49D-496A-99D2-65AF2B988883}" dt="2026-08-08T01:03:52.841" v="846" actId="20577"/>
        <pc:sldMkLst>
          <pc:docMk/>
          <pc:sldMk cId="0" sldId="271"/>
        </pc:sldMkLst>
        <pc:spChg chg="mod">
          <ac:chgData name="재원 허" userId="49a1ab6f79ab220e" providerId="LiveId" clId="{22EB940E-E49D-496A-99D2-65AF2B988883}" dt="2026-08-08T01:03:52.841" v="846" actId="20577"/>
          <ac:spMkLst>
            <pc:docMk/>
            <pc:sldMk cId="0" sldId="271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8073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OPEN GROUND
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하남시 미래산업 스타트업 보육 프로그램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448495" y="347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448495" y="5760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사업계획서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1277295" cy="0"/>
          </a:xfrm>
          <a:prstGeom prst="line">
            <a:avLst/>
          </a:prstGeom>
          <a:noFill/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463040" y="1078992"/>
            <a:ext cx="502920" cy="0"/>
          </a:xfrm>
          <a:prstGeom prst="line">
            <a:avLst/>
          </a:prstGeom>
          <a:noFill/>
          <a:ln w="3175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965960" y="1078992"/>
            <a:ext cx="502920" cy="0"/>
          </a:xfrm>
          <a:prstGeom prst="line">
            <a:avLst/>
          </a:prstGeom>
          <a:noFill/>
          <a:ln w="317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38912" y="19659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이루다</a:t>
            </a:r>
            <a:r>
              <a:rPr lang="en-US" sz="60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하남시 스타트업 발굴 및 육성 지원사업 사업계획서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창업혁신공간(동부권)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5394960"/>
            <a:ext cx="1127729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31520" y="5532120"/>
            <a:ext cx="33018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· 기업명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5833872"/>
            <a:ext cx="3301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디몰링크 (DEMOLINK)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90618" y="5532120"/>
            <a:ext cx="33018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· 대표자명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90618" y="5833872"/>
            <a:ext cx="3301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허재원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16298" y="5532120"/>
            <a:ext cx="0" cy="685800"/>
          </a:xfrm>
          <a:prstGeom prst="line">
            <a:avLst/>
          </a:prstGeom>
          <a:noFill/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249717" y="5532120"/>
            <a:ext cx="33018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· 제출일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49717" y="5833872"/>
            <a:ext cx="3301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2026. 08. 08.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975397" y="5532120"/>
            <a:ext cx="0" cy="685800"/>
          </a:xfrm>
          <a:prstGeom prst="line">
            <a:avLst/>
          </a:prstGeom>
          <a:noFill/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
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사업계획서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11277295" cy="0"/>
          </a:xfrm>
          <a:prstGeom prst="line">
            <a:avLst/>
          </a:prstGeom>
          <a:noFill/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8912" y="1554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3017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문제제기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456432"/>
            <a:ext cx="4754880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3703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솔루션 및 핵심 경쟁력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4142232"/>
            <a:ext cx="4754880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4389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사업화 전략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목표시장 · 2. 경쟁사 분석 · 3. 사업화 계획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매출 계획 · 5. 투자유치 계획 · 6. 글로벌 진출 전략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5376672"/>
            <a:ext cx="4754880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92240" y="3017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32320" y="3017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소개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33832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대표자 이력 · 2. 핵심인력 이력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성과 이력 · 4. 주주 및 旣 투자 현황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92240" y="4005072"/>
            <a:ext cx="4754880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92240" y="4251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0" y="4251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협업 제안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92240" y="4617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협업 제안 · 2. 기대효과 및 기타사항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92240" y="5239512"/>
            <a:ext cx="4754880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문제제기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587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57621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618488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7조원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3576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건설폐기물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시장 규모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07738" y="1508760"/>
            <a:ext cx="357621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307738" y="1618488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2억 톤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307738" y="2103120"/>
            <a:ext cx="3576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건설폐기물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발생량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58277" y="1508760"/>
            <a:ext cx="357621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158277" y="1618488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15~30만원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158277" y="2103120"/>
            <a:ext cx="3576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처리장 선택에 따른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건당 비용 편차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606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환경부(2023), 현장 인터뷰 5곳 확인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063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인식 (Problem)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1127729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철거 및 건설폐기물 운반 과정에서 주변 처리장의 단가·거리·반입 조건 정보가 분산되어 있어, 처리장 선택이 경험과 관계 중심으로 이루어지고 있음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처리비·운반비·거리를 종합한 총 운반비 비교 시스템이 전무하여, 반복적인 전화 문의와 건당 비용 편차가 지속적으로 발생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관리 체계(올바로시스템 등)는 폐기물 인계·관리·보고 중심으로 구성되어 있어, 견적 및 처리장 선택 단계에 대한 최적화 기능은 제공되지 않음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솔루션 및 핵심 경쟁력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587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(Solution)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292608" cy="292608"/>
          </a:xfrm>
          <a:prstGeom prst="ellipse">
            <a:avLst/>
          </a:prstGeom>
          <a:solidFill>
            <a:srgbClr val="1E56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847088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기반 처리장 </a:t>
            </a:r>
            <a:r>
              <a:rPr lang="en-US" sz="1350" b="1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</a:t>
            </a: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b="1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탐색</a:t>
            </a: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및 </a:t>
            </a:r>
            <a:r>
              <a:rPr lang="en-US" altLang="ko-KR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r>
              <a:rPr lang="ko-KR" alt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건축물 소재 확인 기능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2130552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위치 입력 시 카카오맵 API 기반 반경 내 처리장 자동 </a:t>
            </a:r>
            <a:r>
              <a:rPr lang="en-US" sz="105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탐색</a:t>
            </a: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(거리 오차 ±5% </a:t>
            </a:r>
            <a:r>
              <a:rPr lang="en-US" sz="105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이내</a:t>
            </a: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</a:t>
            </a:r>
            <a:r>
              <a:rPr lang="ko-KR" alt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카메라로 촬영 시 건축물 소재 확인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770632"/>
            <a:ext cx="292608" cy="292608"/>
          </a:xfrm>
          <a:prstGeom prst="ellipse">
            <a:avLst/>
          </a:prstGeom>
          <a:solidFill>
            <a:srgbClr val="1E56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743200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운반비 통합 계산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68680" y="3026664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처리비 + 운반비 + 거리를 종합한 비용 자동 계산 (계산 시간 3초 이내)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666744"/>
            <a:ext cx="292608" cy="292608"/>
          </a:xfrm>
          <a:prstGeom prst="ellipse">
            <a:avLst/>
          </a:prstGeom>
          <a:solidFill>
            <a:srgbClr val="1E56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7200" y="3666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639312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최적 처리장 자동 추천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68680" y="3922776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운반비 기준 최적 처리장 추천 알고리즘 적용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562856"/>
            <a:ext cx="292608" cy="292608"/>
          </a:xfrm>
          <a:prstGeom prst="ellipse">
            <a:avLst/>
          </a:prstGeom>
          <a:solidFill>
            <a:srgbClr val="1E56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7200" y="4562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4535424"/>
            <a:ext cx="495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견적 기록 및 데이터 축적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68680" y="4818888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 진행 이력 관리 및 실증 데이터 축적 구조 구현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24448" y="1508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경쟁력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24448" y="1874520"/>
            <a:ext cx="541004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제공형 플랫폼·ESG 관리 플랫폼 등 기존 서비스 어디에도 없는 '총 운반비 통합 계산' 시스템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데이터가 축적될수록 추천 정확도가 향상되는 구조로, 후발주자 진입장벽 형성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IP디딤돌 선정 및 특허출원 진행 중 (GPS 기반 폐기물 배출 및 처리장 최적 매칭 알고리즘)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기술스택</a:t>
            </a: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</a:t>
            </a:r>
            <a:r>
              <a:rPr lang="ko-KR" alt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네이버지도</a:t>
            </a: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API · </a:t>
            </a:r>
            <a:r>
              <a:rPr lang="ko-KR" altLang="en-US" sz="12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올바로시스템</a:t>
            </a:r>
            <a:r>
              <a:rPr lang="ko-KR" alt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· AI </a:t>
            </a:r>
            <a:r>
              <a:rPr lang="ko-KR" alt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건축물</a:t>
            </a:r>
            <a:r>
              <a:rPr lang="en-US" altLang="ko-KR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소재 파악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사업화 전략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587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목표시장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127729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건설폐기물 처리 시장: 연간 약 2억 톤 발생, 시장 규모 약 7조 원 (환경부, 2023)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대상 기초지자체 226개 → 전국 확장이 가능한 구조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처리장 및 운반업체 입점 의향서 3개소 체결 완료로 초기 파일럿 기반 확보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진입 전략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357621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3576218" cy="365760"/>
          </a:xfrm>
          <a:prstGeom prst="rect">
            <a:avLst/>
          </a:prstGeom>
          <a:solidFill>
            <a:srgbClr val="1E56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3977640"/>
            <a:ext cx="3576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 · 2026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4434840"/>
            <a:ext cx="33018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경기</a:t>
            </a: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하남시</a:t>
            </a: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파일럿 현장 실증 수행 및 알고리즘 최적화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07738" y="3977640"/>
            <a:ext cx="357621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307738" y="3977640"/>
            <a:ext cx="3576218" cy="365760"/>
          </a:xfrm>
          <a:prstGeom prst="rect">
            <a:avLst/>
          </a:prstGeom>
          <a:solidFill>
            <a:srgbClr val="1E56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307738" y="3977640"/>
            <a:ext cx="3576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 · 2027 상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44898" y="4434840"/>
            <a:ext cx="33018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경기권 처리장·운반업체 협력 네트워크 확대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58277" y="3977640"/>
            <a:ext cx="357621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158277" y="3977640"/>
            <a:ext cx="3576218" cy="365760"/>
          </a:xfrm>
          <a:prstGeom prst="rect">
            <a:avLst/>
          </a:prstGeom>
          <a:solidFill>
            <a:srgbClr val="1E56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158277" y="3977640"/>
            <a:ext cx="3576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 · 2027~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95437" y="4434840"/>
            <a:ext cx="33018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수도권 및 전국 확장, 데이터 기반 SaaS 서비스 도입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사업화 전략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587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경쟁사 분석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17830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주요 기능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한계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무촌철거 등 정보 플랫폼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B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철거 관련 정보 및 현장 정보 제공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B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총 운반비 통합 계산 기능 없음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웨이블 등 ESG·폐기물</a:t>
                      </a:r>
                      <a:endParaRPr lang="en-US" sz="1150" dirty="0"/>
                    </a:p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통합관리 플랫폼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ESG 및 폐기물 관리 체계 제공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현장 견적 단계 최적화 기능 미흡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977640"/>
            <a:ext cx="11277295" cy="1005840"/>
          </a:xfrm>
          <a:prstGeom prst="rect">
            <a:avLst/>
          </a:prstGeom>
          <a:solidFill>
            <a:srgbClr val="EAF1FB"/>
          </a:solidFill>
          <a:ln w="1270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85800" y="411480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디몰링크(DEMOLINK)의 </a:t>
            </a:r>
            <a:r>
              <a:rPr lang="en-US" sz="1300" b="1" dirty="0" err="1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차별점</a:t>
            </a:r>
            <a:r>
              <a:rPr lang="en-US" sz="13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</a:t>
            </a:r>
            <a:r>
              <a:rPr lang="ko-KR" alt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정부시스템 </a:t>
            </a:r>
            <a:r>
              <a:rPr lang="ko-KR" altLang="en-US" sz="13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올바로시스템과</a:t>
            </a:r>
            <a:r>
              <a:rPr lang="ko-KR" alt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 연계로 자동 인계</a:t>
            </a:r>
            <a:r>
              <a:rPr lang="en-US" altLang="ko-KR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관리</a:t>
            </a:r>
            <a:r>
              <a:rPr lang="en-US" altLang="ko-KR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보고 체계 구축 및</a:t>
            </a:r>
            <a:r>
              <a:rPr lang="en-US" sz="13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처리비</a:t>
            </a: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운반비 + 거리를 함께 고려한 총 운반비 계산 시스템은 기존 서비스 어디에도 없으며, GPS 기반으로 반경 내 처리장을 자동 탐색·추천하는 기능도 국내 최초 수준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사업화 전략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587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사업화 계획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비즈니스 모델   </a:t>
            </a: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거래 기반 수수료(3~5%) + 구독형 SaaS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405454"/>
              </p:ext>
            </p:extLst>
          </p:nvPr>
        </p:nvGraphicFramePr>
        <p:xfrm>
          <a:off x="457200" y="2286000"/>
          <a:ext cx="11247120" cy="22860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추진 기간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추진 내용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검증 지표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 err="1">
                          <a:solidFill>
                            <a:srgbClr val="2D2D2D"/>
                          </a:solidFill>
                        </a:rPr>
                        <a:t>협약</a:t>
                      </a: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 1개월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B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GPS 처리장 추천 · 거리계산 알고리즘 개발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B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핵심 기능 3종 동작 확인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 err="1">
                          <a:solidFill>
                            <a:srgbClr val="2D2D2D"/>
                          </a:solidFill>
                        </a:rPr>
                        <a:t>협약</a:t>
                      </a: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 2개월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처리장 단가 비교 DB 구축 (5~10개소)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 err="1">
                          <a:solidFill>
                            <a:srgbClr val="2D2D2D"/>
                          </a:solidFill>
                        </a:rPr>
                        <a:t>입점</a:t>
                      </a: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2D2D2D"/>
                          </a:solidFill>
                        </a:rPr>
                        <a:t>의향서</a:t>
                      </a: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2D2D2D"/>
                          </a:solidFill>
                        </a:rPr>
                        <a:t>체결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 err="1">
                          <a:solidFill>
                            <a:srgbClr val="2D2D2D"/>
                          </a:solidFill>
                        </a:rPr>
                        <a:t>협약</a:t>
                      </a: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 4개월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B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파일럿 테스트(</a:t>
                      </a:r>
                      <a:r>
                        <a:rPr lang="en-US" sz="1150" dirty="0" err="1">
                          <a:solidFill>
                            <a:srgbClr val="2D2D2D"/>
                          </a:solidFill>
                        </a:rPr>
                        <a:t>경기</a:t>
                      </a: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 </a:t>
                      </a:r>
                      <a:r>
                        <a:rPr lang="ko-KR" altLang="en-US" sz="1150" dirty="0">
                          <a:solidFill>
                            <a:srgbClr val="2D2D2D"/>
                          </a:solidFill>
                        </a:rPr>
                        <a:t>하남</a:t>
                      </a: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) 및 기능 고도화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B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실증 1건 이상, 오류율 5% 이하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 err="1">
                          <a:solidFill>
                            <a:srgbClr val="2D2D2D"/>
                          </a:solidFill>
                        </a:rPr>
                        <a:t>협약</a:t>
                      </a: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 4개월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실증 결과 정리 및 매출 실험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매출 1건 이상 발생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사업화 전략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587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매출 계획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(단위 : 백만원)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01932"/>
              </p:ext>
            </p:extLst>
          </p:nvPr>
        </p:nvGraphicFramePr>
        <p:xfrm>
          <a:off x="457200" y="2240280"/>
          <a:ext cx="11247120" cy="1005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2025년(결산 기준)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2026년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2027년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총 매출액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</a:rPr>
                        <a:t>120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 6"/>
          <p:cNvSpPr/>
          <p:nvPr/>
        </p:nvSpPr>
        <p:spPr>
          <a:xfrm>
            <a:off x="457200" y="3383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산정 근거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3703320"/>
            <a:ext cx="1127729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: 예비창업 단계로 법인 미설립, 매출 실적 없음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: </a:t>
            </a:r>
            <a:r>
              <a:rPr lang="en-US" sz="12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경기</a:t>
            </a: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하남</a:t>
            </a: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파일럿 실증 및 초기 입점 처리장 대상 거래 </a:t>
            </a:r>
            <a:r>
              <a:rPr lang="en-US" sz="12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수수료</a:t>
            </a: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(5~7%) 매출 발생 목표 (협약기간 내 매출 1건 이상)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: 수도권 처리장 네트워크 30개소 이상 확대 및 구독형 SaaS 전환에 따른 매출 성장 목표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사업화 전략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587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투자유치 계획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291840" cy="914400"/>
          </a:xfrm>
          <a:prstGeom prst="rect">
            <a:avLst/>
          </a:prstGeom>
          <a:solidFill>
            <a:srgbClr val="1E56A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투자유치 금액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1~3억 원 (Seed)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023360" y="1920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자금 사용 계획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23360" y="2240280"/>
            <a:ext cx="7711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고도화 및 정식 출시 40% · 처리장·운반업체 네트워크 확대 30%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등 핵심 인력 채용 20% · 마케팅 및 건설사 파트너십 확대 10%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154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자금 조달을 통한 기대 효과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536432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931920"/>
            <a:ext cx="4998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 err="1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경기</a:t>
            </a: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하남</a:t>
            </a: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국지적 파일럿 단계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처리장 5~10개소, 매출 미발생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70168" y="3520440"/>
            <a:ext cx="5364328" cy="1463040"/>
          </a:xfrm>
          <a:prstGeom prst="rect">
            <a:avLst/>
          </a:prstGeom>
          <a:solidFill>
            <a:srgbClr val="EAF1FB"/>
          </a:solidFill>
          <a:ln w="1270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553048" y="3657600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53048" y="3931920"/>
            <a:ext cx="4998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수도권 처리장 네트워크 30개소 이상 확보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거래 수수료 + SaaS 매출 발생, 2027년 TIPS 추천 연계 목표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사업화 전략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587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글로벌 진출 전략 (해당시)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127729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12772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해당없음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현재는 경기권 파일럿 실증 및 국내 시장 확대에 집중하고 있으며, 해외 법인 등 관계사는 보유하고 있지 않음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IV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소개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587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대표자 이력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허재원</a:t>
            </a:r>
            <a:endParaRPr lang="en-US" sz="1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대표자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527379"/>
              </p:ext>
            </p:extLst>
          </p:nvPr>
        </p:nvGraphicFramePr>
        <p:xfrm>
          <a:off x="2377440" y="1920240"/>
          <a:ext cx="923544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연도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학교 / 기관명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학위 / 지위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전공 / 근무부서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재학 중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150" dirty="0">
                          <a:solidFill>
                            <a:srgbClr val="2D2D2D"/>
                          </a:solidFill>
                        </a:rPr>
                        <a:t>명지</a:t>
                      </a:r>
                      <a:r>
                        <a:rPr lang="en-US" sz="1150" dirty="0" err="1">
                          <a:solidFill>
                            <a:srgbClr val="2D2D2D"/>
                          </a:solidFill>
                        </a:rPr>
                        <a:t>대학교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학사(재학)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스포츠산업경영학과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2377440" y="2834640"/>
            <a:ext cx="9357055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2560320" y="2926080"/>
            <a:ext cx="8991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경험</a:t>
            </a:r>
            <a:endParaRPr lang="en-US" sz="1250" dirty="0"/>
          </a:p>
        </p:txBody>
      </p:sp>
      <p:sp>
        <p:nvSpPr>
          <p:cNvPr id="9" name="Text 9"/>
          <p:cNvSpPr/>
          <p:nvPr/>
        </p:nvSpPr>
        <p:spPr>
          <a:xfrm>
            <a:off x="2560320" y="3246120"/>
            <a:ext cx="89912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철거 및 건설폐기물 처리 현장 실무 경험 → 처리장 선택·운반 구조의 비효율 확인, 디몰링크(DEMOLINK) 서비스 기획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처리장 및 운반업체 네트워크 확보 → 입점 의향서 3개소 체결 완료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IP디딤돌 선정 및 특허출원 진행 (GPS 기반 폐기물 배출 및 처리장 최적 매칭 알고리즘)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성남시 주관 청년캠퍼스 2기 · 경상원 청년창업원스텝 과정 · 경기도테크노파크 IP창업교육 수료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IV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소개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587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핵심인력 이력 (해당시)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01951"/>
            <a:ext cx="1920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ko-KR" altLang="en-US" sz="1300" b="1" dirty="0" err="1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이정한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ko-KR" alt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파트너 </a:t>
            </a:r>
            <a:r>
              <a:rPr lang="en-US" altLang="ko-KR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</a:t>
            </a: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138170"/>
              </p:ext>
            </p:extLst>
          </p:nvPr>
        </p:nvGraphicFramePr>
        <p:xfrm>
          <a:off x="2377440" y="1920240"/>
          <a:ext cx="9235440" cy="13716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연도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학교 / 기관명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학위 / 지위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전공 / 근무부서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/>
                        <a:t>2026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150" dirty="0"/>
                        <a:t>명지대학교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 err="1">
                          <a:solidFill>
                            <a:srgbClr val="2D2D2D"/>
                          </a:solidFill>
                        </a:rPr>
                        <a:t>학사</a:t>
                      </a: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(</a:t>
                      </a:r>
                      <a:r>
                        <a:rPr lang="ko-KR" altLang="en-US" sz="1150" dirty="0">
                          <a:solidFill>
                            <a:srgbClr val="2D2D2D"/>
                          </a:solidFill>
                        </a:rPr>
                        <a:t>재학</a:t>
                      </a: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)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150" dirty="0"/>
                        <a:t>기계공학과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150" dirty="0"/>
                        <a:t>2025~현재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150" dirty="0"/>
                        <a:t>영통이강학원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150" dirty="0">
                          <a:solidFill>
                            <a:srgbClr val="2D2D2D"/>
                          </a:solidFill>
                        </a:rPr>
                        <a:t>개발자</a:t>
                      </a: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(</a:t>
                      </a:r>
                      <a:r>
                        <a:rPr lang="ko-KR" altLang="en-US" sz="1150" dirty="0">
                          <a:solidFill>
                            <a:srgbClr val="2D2D2D"/>
                          </a:solidFill>
                        </a:rPr>
                        <a:t>재직중</a:t>
                      </a:r>
                      <a:r>
                        <a:rPr lang="en-US" sz="1150" dirty="0">
                          <a:solidFill>
                            <a:srgbClr val="2D2D2D"/>
                          </a:solidFill>
                        </a:rPr>
                        <a:t>)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150" dirty="0"/>
                        <a:t>웹·게임 개발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2377440" y="3291840"/>
            <a:ext cx="9357055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2560320" y="3383280"/>
            <a:ext cx="8991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경험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560320" y="3703320"/>
            <a:ext cx="89912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800"/>
              </a:spcAft>
              <a:buSzPct val="100000"/>
            </a:pPr>
            <a:r>
              <a:rPr lang="ko-KR" altLang="en-US" sz="1150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- 영통이강학원 개발자로 재직 중(2025~현재) — 웹·앱 서비스 개발 및 유지보수 실무 경험 보유</a:t>
            </a:r>
            <a:endParaRPr lang="en-US" sz="1150" dirty="0"/>
          </a:p>
          <a:p>
            <a:pPr>
              <a:lnSpc>
                <a:spcPct val="115000"/>
              </a:lnSpc>
              <a:spcAft>
                <a:spcPts val="800"/>
              </a:spcAft>
              <a:buSzPct val="100000"/>
            </a:pPr>
            <a:r>
              <a:rPr lang="ko-KR" altLang="en-US" sz="1150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- Unity·C# 기반 게임 개발 및 OpenAI GPT-4.1 연동 경험 — NHN Game×AI 해커톤 출품작 개발(WebGL 배포, Vercel 서버리스 백엔드 · Redis 리더보드)</a:t>
            </a:r>
            <a:endParaRPr lang="en-US" sz="1150" dirty="0"/>
          </a:p>
          <a:p>
            <a:pPr>
              <a:lnSpc>
                <a:spcPct val="115000"/>
              </a:lnSpc>
              <a:spcAft>
                <a:spcPts val="800"/>
              </a:spcAft>
              <a:buSzPct val="100000"/>
            </a:pPr>
            <a:r>
              <a:rPr lang="ko-KR" altLang="en-US" sz="1150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- TypeScript 풀스택 개발 경험 — React · Node.js(Express) · PostgreSQL(Drizzle ORM) 기반 웹 서비스 설계·개발</a:t>
            </a:r>
            <a:endParaRPr lang="en-US" sz="1150" dirty="0"/>
          </a:p>
          <a:p>
            <a:pPr>
              <a:lnSpc>
                <a:spcPct val="115000"/>
              </a:lnSpc>
              <a:spcAft>
                <a:spcPts val="800"/>
              </a:spcAft>
              <a:buSzPct val="100000"/>
            </a:pPr>
            <a:r>
              <a:rPr lang="ko-KR" altLang="en-US" sz="1150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- 협약 확정 시 디몰링크(DEMOLINK) 합류하여 요구사항 정의·품질 관리·일정 관리 지원</a:t>
            </a:r>
            <a:endParaRPr lang="en-US" sz="1150" dirty="0"/>
          </a:p>
        </p:txBody>
      </p:sp>
      <p:sp>
        <p:nvSpPr>
          <p:cNvPr id="9" name="Text 10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IV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소개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587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성과 이력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정성적 성과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54100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IP디딤돌 선정 및 특허출원 진행 (GPS 기반 폐기물 배출 및 처리장 최적 매칭 알고리즘)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외주개발사 미스터디벨로와 MVP 개발 협약 완료 (Flutter 기반)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ESG 자문 한국도시녹화, 현장 자문 신화산업과 협업 체결 완료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예비창업패키지 지원사업 사업계획서 작성 및 준비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24448" y="1920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정량적 성과 · 창업 준비 이력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24448" y="2240280"/>
            <a:ext cx="54100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처리장 및 운반업체 입점 의향서 3개소 체결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개발·자문 협약 3건 체결 (기술개발 · ESG자문 · 현장자문)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성남시 주관 청년캠퍼스 2기 수료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경상원 주관 청년창업원스텝 과정 수료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경기도테크노파크 IP 창업교육 수료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IV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소개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587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주주 및 旣 투자 현황 (2026.06.30 기준)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332061"/>
              </p:ext>
            </p:extLst>
          </p:nvPr>
        </p:nvGraphicFramePr>
        <p:xfrm>
          <a:off x="487375" y="1956814"/>
          <a:ext cx="11247120" cy="1097282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주주명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지분율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</a:rPr>
                        <a:t>허재원 (대표자)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</a:rPr>
                        <a:t>100%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</a:rPr>
                        <a:t>법인 설립 예정 (예비창업자)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383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旣 투자 현황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370332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해당없음 (현재까지 외부 투자 유치 이력 없음)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V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협업 제안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587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제안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541004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 · 건축 분야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50442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건설사·철거전문업체·폐기물처리업체와의 협업 제안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대형 현장 파일럿 확대 및 처리장 네트워크 전국 확장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처리장 데이터 공유를 통한 추천 알고리즘 고도화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24448" y="1920240"/>
            <a:ext cx="541004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507328" y="2103120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모빌리티 분야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07328" y="2514600"/>
            <a:ext cx="50442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GPS·경로 최적화 기술 보유 기업과의 협업 제안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거리·경로 계산 정확도 향상 및 물류 최적화 기능 고도화</a:t>
            </a:r>
            <a:endParaRPr lang="en-US" sz="120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데이터 기반 공동 기술 검증(PoC) 추진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V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협업 제안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587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기대효과 및 기타사항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효과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1127729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협업 파트너사의 처리장·현장 네트워크를 활용한 조기 네트워크 확보 및 전국 확장 가속화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데이터 축적을 통한 총 운반비 계산 및 최적 처리장 추천 알고리즘의 정확도 지속 향상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대형 현장 파일럿 수행을 통한 서비스 신뢰도 확보 및 매출 성장 가속화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기타사항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11277295" cy="1005840"/>
          </a:xfrm>
          <a:prstGeom prst="rect">
            <a:avLst/>
          </a:prstGeom>
          <a:solidFill>
            <a:srgbClr val="EAF1FB"/>
          </a:solidFill>
          <a:ln w="1270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5800" y="4114800"/>
            <a:ext cx="10820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“하남시 </a:t>
            </a:r>
            <a:r>
              <a:rPr lang="en-US" sz="1300" i="1" dirty="0" err="1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스타트업</a:t>
            </a:r>
            <a:r>
              <a:rPr lang="en-US" sz="1300" i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300" i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이루다</a:t>
            </a:r>
            <a:r>
              <a:rPr lang="en-US" altLang="ko-KR" sz="1300" i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1300" i="1" dirty="0" err="1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프로그램을</a:t>
            </a:r>
            <a:r>
              <a:rPr lang="en-US" sz="1300" i="1" dirty="0">
                <a:solidFill>
                  <a:srgbClr val="174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통해 디몰링크(DEMOLINK)가 건설폐기물 처리 시장의 정보 비대칭과 비효율을 해소하는 대표 플랫폼으로 성장하겠습니다.”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솔루션 및 핵심 경쟁력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587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상세 기능 명세 (1/3)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01" name="Circle 1"/>
          <p:cNvSpPr/>
          <p:nvPr/>
        </p:nvSpPr>
        <p:spPr>
          <a:xfrm>
            <a:off x="457200" y="1901951"/>
            <a:ext cx="292608" cy="292608"/>
          </a:xfrm>
          <a:prstGeom prst="ellipse">
            <a:avLst/>
          </a:prstGeom>
          <a:solidFill>
            <a:srgbClr val="1E56A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1</a:t>
            </a:r>
          </a:p>
        </p:txBody>
      </p:sp>
      <p:sp>
        <p:nvSpPr>
          <p:cNvPr id="111" name="Title 1"/>
          <p:cNvSpPr/>
          <p:nvPr/>
        </p:nvSpPr>
        <p:spPr>
          <a:xfrm>
            <a:off x="868680" y="1874519"/>
            <a:ext cx="1036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6-Way 다중 사용자 맞춤형 인터페이스 (Role-based Architecture)</a:t>
            </a:r>
          </a:p>
        </p:txBody>
      </p:sp>
      <p:sp>
        <p:nvSpPr>
          <p:cNvPr id="121" name="Bullets 1"/>
          <p:cNvSpPr/>
          <p:nvPr/>
        </p:nvSpPr>
        <p:spPr>
          <a:xfrm>
            <a:off x="868680" y="2274559"/>
            <a:ext cx="10360000" cy="1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800"/>
              </a:spcAft>
              <a:buSzPct val="100000"/>
            </a:pPr>
            <a:r>
              <a:rPr lang="ko-KR" altLang="en-US" sz="1150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- 단 하나의 앱에서 가입 사업자 유형별로 완전히 다른 UI/UX(홈 화면)를 동적으로 제공</a:t>
            </a:r>
            <a:endParaRPr lang="en-US" sz="1150" dirty="0"/>
          </a:p>
          <a:p>
            <a:pPr>
              <a:lnSpc>
                <a:spcPct val="115000"/>
              </a:lnSpc>
              <a:spcAft>
                <a:spcPts val="800"/>
              </a:spcAft>
              <a:buSzPct val="100000"/>
            </a:pPr>
            <a:r>
              <a:rPr lang="ko-KR" altLang="en-US" sz="1150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- 소비자·철거업체 — 원터치 배출 요청 및 배차·상차·도착 실시간 트래킹, 주소 자동 좌표 변환</a:t>
            </a:r>
            <a:endParaRPr lang="en-US" sz="1150" dirty="0"/>
          </a:p>
          <a:p>
            <a:pPr>
              <a:lnSpc>
                <a:spcPct val="115000"/>
              </a:lnSpc>
              <a:spcAft>
                <a:spcPts val="800"/>
              </a:spcAft>
              <a:buSzPct val="100000"/>
            </a:pPr>
            <a:r>
              <a:rPr lang="ko-KR" altLang="en-US" sz="1150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- 운반업체·기사님 — 실시간 콜(배차) 대기 시스템 및 GPS 기반 거리순 일감 노출, 처리장까지 최적 경로 안내 연동</a:t>
            </a:r>
            <a:endParaRPr lang="en-US" sz="1150" dirty="0"/>
          </a:p>
          <a:p>
            <a:pPr>
              <a:lnSpc>
                <a:spcPct val="115000"/>
              </a:lnSpc>
              <a:spcAft>
                <a:spcPts val="800"/>
              </a:spcAft>
              <a:buSzPct val="100000"/>
            </a:pPr>
            <a:r>
              <a:rPr lang="ko-KR" altLang="en-US" sz="1150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- 처리장 — 실시간 반입 예정 스케줄러(차량·시간·폐기물 종류) 및 입고 완료 원터치 승인(즉시 정산 트리거) · 인테리어업체 — 전용 일감 등록 및 입찰 현황 모니터링</a:t>
            </a:r>
            <a:endParaRPr lang="en-US" sz="1150" dirty="0"/>
          </a:p>
        </p:txBody>
      </p:sp>
      <p:sp>
        <p:nvSpPr>
          <p:cNvPr id="102" name="Circle 2"/>
          <p:cNvSpPr/>
          <p:nvPr/>
        </p:nvSpPr>
        <p:spPr>
          <a:xfrm>
            <a:off x="457200" y="4334559"/>
            <a:ext cx="292608" cy="292608"/>
          </a:xfrm>
          <a:prstGeom prst="ellipse">
            <a:avLst/>
          </a:prstGeom>
          <a:solidFill>
            <a:srgbClr val="1E56A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2</a:t>
            </a:r>
          </a:p>
        </p:txBody>
      </p:sp>
      <p:sp>
        <p:nvSpPr>
          <p:cNvPr id="112" name="Title 2"/>
          <p:cNvSpPr/>
          <p:nvPr/>
        </p:nvSpPr>
        <p:spPr>
          <a:xfrm>
            <a:off x="868680" y="4307127"/>
            <a:ext cx="1036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환경부 올바로(Allbaro) 시스템 직접 연동 API</a:t>
            </a:r>
          </a:p>
        </p:txBody>
      </p:sp>
      <p:sp>
        <p:nvSpPr>
          <p:cNvPr id="122" name="Bullets 2"/>
          <p:cNvSpPr/>
          <p:nvPr/>
        </p:nvSpPr>
        <p:spPr>
          <a:xfrm>
            <a:off x="868680" y="4707167"/>
            <a:ext cx="10360000" cy="1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800"/>
              </a:spcAft>
              <a:buSzPct val="100000"/>
            </a:pPr>
            <a:r>
              <a:rPr lang="ko-KR" altLang="en-US" sz="1150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- 올바로시스템 가입 정보를 앱에서 실시간으로 회원 검증 및 연동</a:t>
            </a:r>
            <a:endParaRPr lang="en-US" sz="1150" dirty="0"/>
          </a:p>
          <a:p>
            <a:pPr>
              <a:lnSpc>
                <a:spcPct val="115000"/>
              </a:lnSpc>
              <a:spcAft>
                <a:spcPts val="800"/>
              </a:spcAft>
              <a:buSzPct val="100000"/>
            </a:pPr>
            <a:r>
              <a:rPr lang="ko-KR" altLang="en-US" sz="1150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- 배출자·운반자·처리자가 앱 내 '완료' 버튼을 누를 때마다 백엔드 서버가 올바로시스템으로 전자인계서·실적을 즉시 자동 발급·전송</a:t>
            </a:r>
            <a:endParaRPr lang="en-US" sz="1150" dirty="0"/>
          </a:p>
          <a:p>
            <a:pPr>
              <a:lnSpc>
                <a:spcPct val="115000"/>
              </a:lnSpc>
              <a:spcAft>
                <a:spcPts val="800"/>
              </a:spcAft>
              <a:buSzPct val="100000"/>
            </a:pPr>
            <a:r>
              <a:rPr lang="ko-KR" altLang="en-US" sz="1150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- 국가 시스템 점검·장애 시 자체 간이확인서를 먼저 발급하고, 복구 시점을 감지해 재시도 큐(Queue)로 누락 없이 100% 자동 재전송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솔루션 및 핵심 경쟁력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587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상세 기능 명세 (2/3)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03" name="Circle 3"/>
          <p:cNvSpPr/>
          <p:nvPr/>
        </p:nvSpPr>
        <p:spPr>
          <a:xfrm>
            <a:off x="457200" y="1901951"/>
            <a:ext cx="292608" cy="292608"/>
          </a:xfrm>
          <a:prstGeom prst="ellipse">
            <a:avLst/>
          </a:prstGeom>
          <a:solidFill>
            <a:srgbClr val="1E56A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3</a:t>
            </a:r>
          </a:p>
        </p:txBody>
      </p:sp>
      <p:sp>
        <p:nvSpPr>
          <p:cNvPr id="113" name="Title 3"/>
          <p:cNvSpPr/>
          <p:nvPr/>
        </p:nvSpPr>
        <p:spPr>
          <a:xfrm>
            <a:off x="868680" y="1874519"/>
            <a:ext cx="1036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Vision AI 기반 스마트 폐기물 현장 분석</a:t>
            </a:r>
          </a:p>
        </p:txBody>
      </p:sp>
      <p:sp>
        <p:nvSpPr>
          <p:cNvPr id="123" name="Bullets 3"/>
          <p:cNvSpPr/>
          <p:nvPr/>
        </p:nvSpPr>
        <p:spPr>
          <a:xfrm>
            <a:off x="868680" y="2274559"/>
            <a:ext cx="1036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800"/>
              </a:spcAft>
              <a:buSzPct val="100000"/>
            </a:pPr>
            <a:r>
              <a:rPr lang="ko-KR" altLang="en-US" sz="1150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- 카메라로 폐기물 더미를 촬영하면 AI가 이미지를 분석해 '폐기물 소재', '종류', '예상 무게(t)'를 자동 산출하여 입력 폼을 채움</a:t>
            </a:r>
            <a:endParaRPr lang="en-US" sz="1150" dirty="0"/>
          </a:p>
          <a:p>
            <a:pPr>
              <a:lnSpc>
                <a:spcPct val="115000"/>
              </a:lnSpc>
              <a:spcAft>
                <a:spcPts val="800"/>
              </a:spcAft>
              <a:buSzPct val="100000"/>
            </a:pPr>
            <a:r>
              <a:rPr lang="ko-KR" altLang="en-US" sz="1150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- 석면 등 혼입 시 위험하거나 처리 단가가 크게 변동되는 폐기물을 AI가 사전 감지해 선제적 경고 알림 제공</a:t>
            </a:r>
            <a:endParaRPr lang="en-US" sz="1150" dirty="0"/>
          </a:p>
        </p:txBody>
      </p:sp>
      <p:sp>
        <p:nvSpPr>
          <p:cNvPr id="104" name="Circle 4"/>
          <p:cNvSpPr/>
          <p:nvPr/>
        </p:nvSpPr>
        <p:spPr>
          <a:xfrm>
            <a:off x="457200" y="3534559"/>
            <a:ext cx="292608" cy="292608"/>
          </a:xfrm>
          <a:prstGeom prst="ellipse">
            <a:avLst/>
          </a:prstGeom>
          <a:solidFill>
            <a:srgbClr val="1E56A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4</a:t>
            </a:r>
          </a:p>
        </p:txBody>
      </p:sp>
      <p:sp>
        <p:nvSpPr>
          <p:cNvPr id="114" name="Title 4"/>
          <p:cNvSpPr/>
          <p:nvPr/>
        </p:nvSpPr>
        <p:spPr>
          <a:xfrm>
            <a:off x="868680" y="3507127"/>
            <a:ext cx="1036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포트원(PortOne) 기반 자동 결제/정산 및 세금계산서 발급</a:t>
            </a:r>
          </a:p>
        </p:txBody>
      </p:sp>
      <p:sp>
        <p:nvSpPr>
          <p:cNvPr id="124" name="Bullets 4"/>
          <p:cNvSpPr/>
          <p:nvPr/>
        </p:nvSpPr>
        <p:spPr>
          <a:xfrm>
            <a:off x="868680" y="3907167"/>
            <a:ext cx="10360000" cy="1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800"/>
              </a:spcAft>
              <a:buSzPct val="100000"/>
            </a:pPr>
            <a:r>
              <a:rPr lang="ko-KR" altLang="en-US" sz="1150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- 배차(매칭) 확정 전 배출자가 '운반비 + 처리비 + 플랫폼 수수료(7%)'를 전액 선결제(계좌이체/가상계좌/카드)해야만 배차가 확정</a:t>
            </a:r>
            <a:endParaRPr lang="en-US" sz="1150" dirty="0"/>
          </a:p>
          <a:p>
            <a:pPr>
              <a:lnSpc>
                <a:spcPct val="115000"/>
              </a:lnSpc>
              <a:spcAft>
                <a:spcPts val="800"/>
              </a:spcAft>
              <a:buSzPct val="100000"/>
            </a:pPr>
            <a:r>
              <a:rPr lang="ko-KR" altLang="en-US" sz="1150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- 작업이 안전하게 완료되면 익영업일(D+1)에 운반 업체와 처리장에 각각의 몫이 수수료 제외 후 자동 입금(초정밀 분할 정산 자동화)</a:t>
            </a:r>
            <a:endParaRPr lang="en-US" sz="1150" dirty="0"/>
          </a:p>
          <a:p>
            <a:pPr>
              <a:lnSpc>
                <a:spcPct val="115000"/>
              </a:lnSpc>
              <a:spcAft>
                <a:spcPts val="800"/>
              </a:spcAft>
              <a:buSzPct val="100000"/>
            </a:pPr>
            <a:r>
              <a:rPr lang="ko-KR" altLang="en-US" sz="1150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- 정산 확정 시 국세청에 연동된 포트원(PortOne) API를 통해 각 업체 간 매입/매출 전자세금계산서가 사람의 개입 없이 100% 자동 발행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8912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솔루션 및 핵심 경쟁력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587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005840" cy="0"/>
          </a:xfrm>
          <a:prstGeom prst="line">
            <a:avLst/>
          </a:prstGeom>
          <a:noFill/>
          <a:ln w="317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상세 기능 명세 (3/3)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5267167"/>
            <a:ext cx="11277295" cy="822960"/>
          </a:xfrm>
          <a:prstGeom prst="rect">
            <a:avLst/>
          </a:prstGeom>
          <a:solidFill>
            <a:srgbClr val="EAF1FB"/>
          </a:solidFill>
          <a:ln w="1270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85800" y="5358607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1250" b="1" dirty="0">
                <a:solidFill>
                  <a:srgbClr val="17417A"/>
                </a:solidFill>
                <a:latin typeface="Arial" pitchFamily="34" charset="0"/>
                <a:cs typeface="Arial" pitchFamily="34" charset="-120"/>
              </a:rPr>
              <a:t>심사 포인트 : </a:t>
            </a:r>
            <a:r>
              <a:rPr lang="ko-KR" altLang="en-US" sz="1200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① 올바로시스템 API 직접 연동으로 행정 자동화(진입장벽) · ② Vision AI 기반 현장 편의성 극대화 · ③ 결제망 자체 연동으로 정산·세금계산서 완전 자동화(미수금 원천 차단) — 3가지 기술적 완성도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HANAM · IRUDA+ · BUSINESS PLAN 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77295" y="6565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05" name="Circle 5"/>
          <p:cNvSpPr/>
          <p:nvPr/>
        </p:nvSpPr>
        <p:spPr>
          <a:xfrm>
            <a:off x="457200" y="1901951"/>
            <a:ext cx="292608" cy="292608"/>
          </a:xfrm>
          <a:prstGeom prst="ellipse">
            <a:avLst/>
          </a:prstGeom>
          <a:solidFill>
            <a:srgbClr val="1E56A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5</a:t>
            </a:r>
          </a:p>
        </p:txBody>
      </p:sp>
      <p:sp>
        <p:nvSpPr>
          <p:cNvPr id="115" name="Title 5"/>
          <p:cNvSpPr/>
          <p:nvPr/>
        </p:nvSpPr>
        <p:spPr>
          <a:xfrm>
            <a:off x="868680" y="1874519"/>
            <a:ext cx="1036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실시간 매칭 엔진 및 양방향 소통 기능</a:t>
            </a:r>
          </a:p>
        </p:txBody>
      </p:sp>
      <p:sp>
        <p:nvSpPr>
          <p:cNvPr id="125" name="Bullets 5"/>
          <p:cNvSpPr/>
          <p:nvPr/>
        </p:nvSpPr>
        <p:spPr>
          <a:xfrm>
            <a:off x="868680" y="2274559"/>
            <a:ext cx="10360000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800"/>
              </a:spcAft>
              <a:buSzPct val="100000"/>
            </a:pPr>
            <a:r>
              <a:rPr lang="ko-KR" altLang="en-US" sz="1150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- 표준 단가 외 특수 상황에 대한 실시간 견적 요청 및 입찰 시스템</a:t>
            </a:r>
            <a:endParaRPr lang="en-US" sz="1150" dirty="0"/>
          </a:p>
          <a:p>
            <a:pPr>
              <a:lnSpc>
                <a:spcPct val="115000"/>
              </a:lnSpc>
              <a:spcAft>
                <a:spcPts val="800"/>
              </a:spcAft>
              <a:buSzPct val="100000"/>
            </a:pPr>
            <a:r>
              <a:rPr lang="ko-KR" altLang="en-US" sz="1150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- 매칭된 배출자 ↔ 운반기사 간 안전번호 기반 양방향 실시간 채팅 지원(위치 안내 등)</a:t>
            </a:r>
            <a:endParaRPr lang="en-US" sz="1150" dirty="0"/>
          </a:p>
          <a:p>
            <a:pPr>
              <a:lnSpc>
                <a:spcPct val="115000"/>
              </a:lnSpc>
              <a:spcAft>
                <a:spcPts val="800"/>
              </a:spcAft>
              <a:buSzPct val="100000"/>
            </a:pPr>
            <a:r>
              <a:rPr lang="ko-KR" altLang="en-US" sz="1150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- 배차 성공, 상차 시작, 처리장 도착 등 모든 단계의 상태 변경을 실시간 푸시로 안내</a:t>
            </a:r>
            <a:endParaRPr lang="en-US" sz="1150" dirty="0"/>
          </a:p>
          <a:p>
            <a:pPr>
              <a:lnSpc>
                <a:spcPct val="115000"/>
              </a:lnSpc>
              <a:spcAft>
                <a:spcPts val="800"/>
              </a:spcAft>
              <a:buSzPct val="100000"/>
            </a:pPr>
            <a:r>
              <a:rPr lang="ko-KR" altLang="en-US" sz="1150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- 작업 완료 후 운반기사 및 처리장에 대한 별점/리뷰 기능으로 서비스 품질(QoS) 관리</a:t>
            </a:r>
            <a:endParaRPr lang="en-US" sz="1150" dirty="0"/>
          </a:p>
        </p:txBody>
      </p:sp>
      <p:sp>
        <p:nvSpPr>
          <p:cNvPr id="106" name="Circle 6"/>
          <p:cNvSpPr/>
          <p:nvPr/>
        </p:nvSpPr>
        <p:spPr>
          <a:xfrm>
            <a:off x="457200" y="4134559"/>
            <a:ext cx="292608" cy="292608"/>
          </a:xfrm>
          <a:prstGeom prst="ellipse">
            <a:avLst/>
          </a:prstGeom>
          <a:solidFill>
            <a:srgbClr val="1E56A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6</a:t>
            </a:r>
          </a:p>
        </p:txBody>
      </p:sp>
      <p:sp>
        <p:nvSpPr>
          <p:cNvPr id="116" name="Title 6"/>
          <p:cNvSpPr/>
          <p:nvPr/>
        </p:nvSpPr>
        <p:spPr>
          <a:xfrm>
            <a:off x="868680" y="4107127"/>
            <a:ext cx="1036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A1A2E"/>
                </a:solidFill>
                <a:latin typeface="Arial" pitchFamily="34" charset="0"/>
                <a:cs typeface="Arial" pitchFamily="34" charset="-120"/>
              </a:rPr>
              <a:t>인테리어 철거 역경매(Bidding) 게시판</a:t>
            </a:r>
          </a:p>
        </p:txBody>
      </p:sp>
      <p:sp>
        <p:nvSpPr>
          <p:cNvPr id="126" name="Bullets 6"/>
          <p:cNvSpPr/>
          <p:nvPr/>
        </p:nvSpPr>
        <p:spPr>
          <a:xfrm>
            <a:off x="868680" y="4507167"/>
            <a:ext cx="1036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800"/>
              </a:spcAft>
              <a:buSzPct val="100000"/>
            </a:pPr>
            <a:r>
              <a:rPr lang="ko-KR" altLang="en-US" sz="1150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- 인테리어 업체가 시공(철거) 일감을 등록하면, 다수의 철거 업체들이 이를 열람하고 견적을 내어 입찰에 참여하는 오픈형 역경매 시스템을 구현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1526</Words>
  <Application>Microsoft Office PowerPoint</Application>
  <PresentationFormat>와이드스크린</PresentationFormat>
  <Paragraphs>280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재원 허</cp:lastModifiedBy>
  <cp:revision>1</cp:revision>
  <dcterms:created xsi:type="dcterms:W3CDTF">2026-08-07T16:07:17Z</dcterms:created>
  <dcterms:modified xsi:type="dcterms:W3CDTF">2026-08-08T01:04:16Z</dcterms:modified>
</cp:coreProperties>
</file>