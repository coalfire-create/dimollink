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05DCB-7CE9-4035-9CA9-62EDA63E6213}" v="5" dt="2026-08-08T01:01:33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8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원 허" userId="49a1ab6f79ab220e" providerId="LiveId" clId="{22EB940E-E49D-496A-99D2-65AF2B988883}"/>
    <pc:docChg chg="undo redo custSel modSld">
      <pc:chgData name="재원 허" userId="49a1ab6f79ab220e" providerId="LiveId" clId="{22EB940E-E49D-496A-99D2-65AF2B988883}" dt="2026-08-08T01:04:13.634" v="847" actId="1076"/>
      <pc:docMkLst>
        <pc:docMk/>
      </pc:docMkLst>
      <pc:sldChg chg="modSp mod">
        <pc:chgData name="재원 허" userId="49a1ab6f79ab220e" providerId="LiveId" clId="{22EB940E-E49D-496A-99D2-65AF2B988883}" dt="2026-08-08T00:52:38.438" v="305" actId="20577"/>
        <pc:sldMkLst>
          <pc:docMk/>
          <pc:sldMk cId="0" sldId="259"/>
        </pc:sldMkLst>
        <pc:spChg chg="mod">
          <ac:chgData name="재원 허" userId="49a1ab6f79ab220e" providerId="LiveId" clId="{22EB940E-E49D-496A-99D2-65AF2B988883}" dt="2026-08-08T00:50:30.555" v="79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1:13.957" v="180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2:38.438" v="305" actId="20577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2:56.730" v="318" actId="20577"/>
        <pc:sldMkLst>
          <pc:docMk/>
          <pc:sldMk cId="0" sldId="260"/>
        </pc:sldMkLst>
        <pc:spChg chg="mod">
          <ac:chgData name="재원 허" userId="49a1ab6f79ab220e" providerId="LiveId" clId="{22EB940E-E49D-496A-99D2-65AF2B988883}" dt="2026-08-08T00:52:56.730" v="318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4:03.965" v="466" actId="20577"/>
        <pc:sldMkLst>
          <pc:docMk/>
          <pc:sldMk cId="0" sldId="261"/>
        </pc:sldMkLst>
        <pc:spChg chg="mod">
          <ac:chgData name="재원 허" userId="49a1ab6f79ab220e" providerId="LiveId" clId="{22EB940E-E49D-496A-99D2-65AF2B988883}" dt="2026-08-08T00:54:03.965" v="466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7:04.003" v="507" actId="20577"/>
        <pc:sldMkLst>
          <pc:docMk/>
          <pc:sldMk cId="0" sldId="262"/>
        </pc:sldMkLst>
        <pc:graphicFrameChg chg="modGraphic">
          <ac:chgData name="재원 허" userId="49a1ab6f79ab220e" providerId="LiveId" clId="{22EB940E-E49D-496A-99D2-65AF2B988883}" dt="2026-08-08T00:57:04.003" v="507" actId="2057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0:57:53.261" v="535" actId="20577"/>
        <pc:sldMkLst>
          <pc:docMk/>
          <pc:sldMk cId="0" sldId="263"/>
        </pc:sldMkLst>
        <pc:spChg chg="mod">
          <ac:chgData name="재원 허" userId="49a1ab6f79ab220e" providerId="LiveId" clId="{22EB940E-E49D-496A-99D2-65AF2B988883}" dt="2026-08-08T00:57:53.261" v="535" actId="20577"/>
          <ac:spMkLst>
            <pc:docMk/>
            <pc:sldMk cId="0" sldId="263"/>
            <ac:spMk id="10" creationId="{00000000-0000-0000-0000-000000000000}"/>
          </ac:spMkLst>
        </pc:spChg>
        <pc:graphicFrameChg chg="modGraphic">
          <ac:chgData name="재원 허" userId="49a1ab6f79ab220e" providerId="LiveId" clId="{22EB940E-E49D-496A-99D2-65AF2B988883}" dt="2026-08-08T00:57:35.358" v="520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0:58:12.979" v="544" actId="20577"/>
        <pc:sldMkLst>
          <pc:docMk/>
          <pc:sldMk cId="0" sldId="264"/>
        </pc:sldMkLst>
        <pc:spChg chg="mod">
          <ac:chgData name="재원 허" userId="49a1ab6f79ab220e" providerId="LiveId" clId="{22EB940E-E49D-496A-99D2-65AF2B988883}" dt="2026-08-08T00:58:12.979" v="544" actId="20577"/>
          <ac:spMkLst>
            <pc:docMk/>
            <pc:sldMk cId="0" sldId="264"/>
            <ac:spMk id="15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9:18.213" v="594" actId="122"/>
        <pc:sldMkLst>
          <pc:docMk/>
          <pc:sldMk cId="0" sldId="266"/>
        </pc:sldMkLst>
        <pc:graphicFrameChg chg="modGraphic">
          <ac:chgData name="재원 허" userId="49a1ab6f79ab220e" providerId="LiveId" clId="{22EB940E-E49D-496A-99D2-65AF2B988883}" dt="2026-08-08T00:59:18.213" v="594" actId="122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1:01:44.903" v="827" actId="20577"/>
        <pc:sldMkLst>
          <pc:docMk/>
          <pc:sldMk cId="0" sldId="267"/>
        </pc:sldMkLst>
        <pc:spChg chg="mod">
          <ac:chgData name="재원 허" userId="49a1ab6f79ab220e" providerId="LiveId" clId="{22EB940E-E49D-496A-99D2-65AF2B988883}" dt="2026-08-08T00:59:57.535" v="648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재원 허" userId="49a1ab6f79ab220e" providerId="LiveId" clId="{22EB940E-E49D-496A-99D2-65AF2B988883}" dt="2026-08-08T01:00:10.629" v="705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9:51.606" v="64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재원 허" userId="49a1ab6f79ab220e" providerId="LiveId" clId="{22EB940E-E49D-496A-99D2-65AF2B988883}" dt="2026-08-08T01:01:44.903" v="827" actId="20577"/>
          <ac:spMkLst>
            <pc:docMk/>
            <pc:sldMk cId="0" sldId="267"/>
            <ac:spMk id="12" creationId="{00000000-0000-0000-0000-000000000000}"/>
          </ac:spMkLst>
        </pc:spChg>
        <pc:graphicFrameChg chg="modGraphic">
          <ac:chgData name="재원 허" userId="49a1ab6f79ab220e" providerId="LiveId" clId="{22EB940E-E49D-496A-99D2-65AF2B988883}" dt="2026-08-08T00:59:47.519" v="643" actId="122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delSp modSp mod">
        <pc:chgData name="재원 허" userId="49a1ab6f79ab220e" providerId="LiveId" clId="{22EB940E-E49D-496A-99D2-65AF2B988883}" dt="2026-08-08T01:04:13.634" v="847" actId="1076"/>
        <pc:sldMkLst>
          <pc:docMk/>
          <pc:sldMk cId="0" sldId="269"/>
        </pc:sldMkLst>
        <pc:spChg chg="del">
          <ac:chgData name="재원 허" userId="49a1ab6f79ab220e" providerId="LiveId" clId="{22EB940E-E49D-496A-99D2-65AF2B988883}" dt="2026-08-08T01:02:51.864" v="830" actId="21"/>
          <ac:spMkLst>
            <pc:docMk/>
            <pc:sldMk cId="0" sldId="269"/>
            <ac:spMk id="7" creationId="{00000000-0000-0000-0000-000000000000}"/>
          </ac:spMkLst>
        </pc:spChg>
        <pc:graphicFrameChg chg="mod modGraphic">
          <ac:chgData name="재원 허" userId="49a1ab6f79ab220e" providerId="LiveId" clId="{22EB940E-E49D-496A-99D2-65AF2B988883}" dt="2026-08-08T01:04:13.634" v="847" actId="1076"/>
          <ac:graphicFrameMkLst>
            <pc:docMk/>
            <pc:sldMk cId="0" sldId="269"/>
            <ac:graphicFrameMk id="15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1:03:52.841" v="846" actId="20577"/>
        <pc:sldMkLst>
          <pc:docMk/>
          <pc:sldMk cId="0" sldId="271"/>
        </pc:sldMkLst>
        <pc:spChg chg="mod">
          <ac:chgData name="재원 허" userId="49a1ab6f79ab220e" providerId="LiveId" clId="{22EB940E-E49D-496A-99D2-65AF2B988883}" dt="2026-08-08T01:03:52.841" v="846" actId="20577"/>
          <ac:spMkLst>
            <pc:docMk/>
            <pc:sldMk cId="0" sldId="27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07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OPEN GROUND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 미래산업 스타트업 보육 프로그램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448495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48495" y="576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7295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63040" y="1078992"/>
            <a:ext cx="50292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65960" y="1078992"/>
            <a:ext cx="502920" cy="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965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이루다</a:t>
            </a:r>
            <a:r>
              <a:rPr lang="en-US" sz="6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 스타트업 발굴 및 육성 지원사업 사업계획서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창업혁신공간(동부권)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394960"/>
            <a:ext cx="112772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· 기업명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디몰링크 (DEMOLINK)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0618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대표자명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0618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허재원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16298" y="5532120"/>
            <a:ext cx="0" cy="68580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49717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· 제출일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9717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2026. 08. 08.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75397" y="5532120"/>
            <a:ext cx="0" cy="68580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사업계획서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11277295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14223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목표시장 · 2. 경쟁사 분석 · 3. 사업화 계획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매출 계획 · 5. 투자유치 계획 · 6. 글로벌 진출 전략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37667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대표자 이력 · 2. 핵심인력 이력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성과 이력 · 4. 주주 및 旣 투자 현황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400507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협업 제안 · 2. 기대효과 및 기타사항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523951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7조원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건설폐기물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시장 규모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07738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2억 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07738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건설폐기물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58277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15~30만원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58277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선택에 따른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비용 편차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환경부(2023), 현장 인터뷰 5곳 확인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인식 (Problem)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12772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 및 건설폐기물 운반 과정에서 주변 처리장의 단가·거리·반입 조건 정보가 분산되어 있어, 처리장 선택이 경험과 관계 중심으로 이루어지고 있음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처리비·운반비·거리를 종합한 총 운반비 비교 시스템이 전무하여, 반복적인 전화 문의와 건당 비용 편차가 지속적으로 발생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관리 체계(올바로시스템 등)는 폐기물 인계·관리·보고 중심으로 구성되어 있어, 견적 및 처리장 선택 단계에 대한 최적화 기능은 제공되지 않음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(Solution)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기반 처리장 </a:t>
            </a:r>
            <a:r>
              <a:rPr lang="en-US" sz="135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</a:t>
            </a:r>
            <a:r>
              <a:rPr lang="en-US" altLang="ko-KR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ko-KR" alt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 소재 확인 기능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위치 입력 시 카카오맵 API 기반 반경 내 처리장 자동 </a:t>
            </a:r>
            <a:r>
              <a:rPr lang="en-US" sz="10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(거리 오차 ±5% </a:t>
            </a:r>
            <a:r>
              <a:rPr lang="en-US" sz="10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이내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ko-KR" alt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카메라로 촬영 시 건축물 소재 확인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운반비 통합 계산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026664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 + 운반비 + 거리를 종합한 비용 자동 계산 (계산 시간 3초 이내)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처리장 자동 추천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3922776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운반비 기준 최적 처리장 추천 알고리즘 적용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562856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535424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기록 및 데이터 축적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48188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진행 이력 관리 및 실증 데이터 축적 구조 구현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4448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경쟁력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4448" y="1874520"/>
            <a:ext cx="54100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제공형 플랫폼·ESG 관리 플랫폼 등 기존 서비스 어디에도 없는 '총 운반비 통합 계산' 시스템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데이터가 축적될수록 추천 정확도가 향상되는 구조로, 후발주자 진입장벽 형성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중 (GPS 기반 폐기물 배출 및 처리장 최적 매칭 알고리즘)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기술스택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네이버지도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· </a:t>
            </a:r>
            <a:r>
              <a:rPr lang="ko-KR" alt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올바로시스템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AI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</a:t>
            </a:r>
            <a:r>
              <a:rPr lang="en-US" altLang="ko-KR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소재 파악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목표시장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건설폐기물 처리 시장: 연간 약 2억 톤 발생, 시장 규모 약 7조 원 (환경부, 2023)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대상 기초지자체 226개 → 전국 확장이 가능한 구조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입점 의향서 3개소 체결 완료로 초기 파일럿 기반 확보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 전략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· 2026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파일럿 현장 실증 수행 및 알고리즘 최적화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7738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07738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07738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· 2027 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44898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경기권 처리장·운반업체 협력 네트워크 확대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8277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158277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· 2027~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5437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수도권 및 전국 확장, 데이터 기반 SaaS 서비스 도입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경쟁사 분석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377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기능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올바로시스템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폐기물 인계·관리·보고 체계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견적 및 처리장 선택 최적화 기능 부재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무촌철거 등 정보 플랫폼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철거 관련 정보 및 현장 정보 제공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총 운반비 통합 계산 기능 없음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웨이블 등 ESG·폐기물</a:t>
                      </a:r>
                      <a:endParaRPr lang="en-US" sz="1150" dirty="0"/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통합관리 플랫폼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ESG 및 폐기물 관리 체계 제공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현장 견적 단계 최적화 기능 미흡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572000"/>
            <a:ext cx="11277295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47091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디몰링크(DEMOLINK)의 </a:t>
            </a:r>
            <a:r>
              <a:rPr lang="en-US" sz="1300" b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정부시스템 </a:t>
            </a:r>
            <a:r>
              <a:rPr lang="ko-KR" alt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올바로시스템과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 연계로 자동 인계</a:t>
            </a:r>
            <a:r>
              <a:rPr lang="en-US" altLang="ko-KR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r>
              <a:rPr lang="en-US" altLang="ko-KR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보고 체계 구축 및</a:t>
            </a: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운반비 + 거리를 함께 고려한 총 운반비 계산 시스템은 기존 서비스 어디에도 없으며, GPS 기반으로 반경 내 처리장을 자동 탐색·추천하는 기능도 국내 최초 수준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사업화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   </a:t>
            </a: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기반 수수료(3~5%) + 구독형 SaaS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405454"/>
              </p:ext>
            </p:extLst>
          </p:nvPr>
        </p:nvGraphicFramePr>
        <p:xfrm>
          <a:off x="457200" y="2286000"/>
          <a:ext cx="1124712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추진 기간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추진 내용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검증 지표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1개월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GPS 처리장 추천 · 거리계산 알고리즘 개발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핵심 기능 3종 동작 확인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2개월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처리장 단가 비교 DB 구축 (5~10개소)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입점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의향서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체결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4개월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파일럿 테스트(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경기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하남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) 및 기능 고도화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실증 1건 이상, 오류율 5% 이하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4개월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실증 결과 정리 및 매출 실험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매출 1건 이상 발생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매출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(단위 : 백만원)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01932"/>
              </p:ext>
            </p:extLst>
          </p:nvPr>
        </p:nvGraphicFramePr>
        <p:xfrm>
          <a:off x="457200" y="2240280"/>
          <a:ext cx="11247120" cy="1005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2025년(결산 기준)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2026년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2027년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총 매출액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572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산정 근거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112772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: 예비창업 단계로 법인 미설립, 매출 실적 없음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: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파일럿 실증 및 초기 입점 처리장 대상 거래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수수료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(5~7%) 매출 발생 목표 (협약기간 내 매출 1건 이상)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: 수도권 처리장 네트워크 30개소 이상 확대 및 구독형 SaaS 전환에 따른 매출 성장 목표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투자유치 계획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291840" cy="91440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투자유치 금액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1~3억 원 (Seed)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2336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사용 계획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240280"/>
            <a:ext cx="7711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고도화 및 정식 출시 40% · 처리장·운반업체 네트워크 확대 30%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등 핵심 인력 채용 20% · 마케팅 및 건설사 파트너십 확대 10%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조달을 통한 기대 효과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36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국지적 파일럿 단계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5~10개소, 매출 미발생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3520440"/>
            <a:ext cx="5364328" cy="14630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53048" y="365760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3048" y="3931920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수도권 처리장 네트워크 30개소 이상 확보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수수료 + SaaS 매출 발생, 2027년 TIPS 추천 연계 목표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글로벌 진출 전략 (해당시)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해당없음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현재는 경기권 파일럿 실증 및 국내 시장 확대에 집중하고 있으며, 해외 법인 등 관계사는 보유하고 있지 않음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대표자 이력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허재원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대표자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27379"/>
              </p:ext>
            </p:extLst>
          </p:nvPr>
        </p:nvGraphicFramePr>
        <p:xfrm>
          <a:off x="2377440" y="1920240"/>
          <a:ext cx="92354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학교 / 기관명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학위 / 지위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전공 / 근무부서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재학 중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명지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대학교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학사(재학)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스포츠산업경영학과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377440" y="2834640"/>
            <a:ext cx="935705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560320" y="292608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경험</a:t>
            </a:r>
            <a:endParaRPr lang="en-US" sz="1250" dirty="0"/>
          </a:p>
        </p:txBody>
      </p:sp>
      <p:sp>
        <p:nvSpPr>
          <p:cNvPr id="9" name="Text 9"/>
          <p:cNvSpPr/>
          <p:nvPr/>
        </p:nvSpPr>
        <p:spPr>
          <a:xfrm>
            <a:off x="2560320" y="3246120"/>
            <a:ext cx="8991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 및 건설폐기물 처리 현장 실무 경험 → 처리장 선택·운반 구조의 비효율 확인, 디몰링크(DEMOLINK) 서비스 기획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네트워크 확보 → 입점 의향서 3개소 체결 완료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(GPS 기반 폐기물 배출 및 처리장 최적 매칭 알고리즘)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성남시 주관 청년캠퍼스 2기 · 경상원 청년창업원스텝 과정 · 경기도테크노파크 IP창업교육 수료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핵심인력 이력 (해당시)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1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1300" b="1" dirty="0" err="1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이정한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파트너 </a:t>
            </a:r>
            <a:r>
              <a:rPr lang="en-US" altLang="ko-KR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38170"/>
              </p:ext>
            </p:extLst>
          </p:nvPr>
        </p:nvGraphicFramePr>
        <p:xfrm>
          <a:off x="2377440" y="1920240"/>
          <a:ext cx="923544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학교 / 기관명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학위 / 지위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전공 / 근무부서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/>
                        <a:t>2026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명지대학교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학사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재학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기계공학과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377440" y="2834640"/>
            <a:ext cx="935705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560320" y="292608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경험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560320" y="3246120"/>
            <a:ext cx="8991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및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협약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디몰링크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(DEMOLINK)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합류하여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정의·품질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관리·일정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</a:t>
            </a:r>
            <a:endParaRPr lang="en-US" sz="1150" dirty="0">
              <a:solidFill>
                <a:srgbClr val="2D2D2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en-US" altLang="ko-KR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</a:t>
            </a: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다양한 어플 개발 및 웹 사이트 제작 및 개발</a:t>
            </a:r>
            <a:endParaRPr lang="en-US" sz="1150" dirty="0"/>
          </a:p>
        </p:txBody>
      </p:sp>
      <p:sp>
        <p:nvSpPr>
          <p:cNvPr id="9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성과 이력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성과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(GPS 기반 폐기물 배출 및 처리장 최적 매칭 알고리즘)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외주개발사 미스터디벨로와 MVP 개발 협약 완료 (Flutter 기반)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자문 한국도시녹화, 현장 자문 신화산업과 협업 체결 완료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예비창업패키지 지원사업 사업계획서 작성 및 준비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448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성과 · 창업 준비 이력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448" y="22402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입점 의향서 3개소 체결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개발·자문 협약 3건 체결 (기술개발 · ESG자문 · 현장자문)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성남시 주관 청년캠퍼스 2기 수료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경상원 주관 청년창업원스텝 과정 수료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경기도테크노파크 IP 창업교육 수료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주주 및 旣 투자 현황 (2026.06.30 기준)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332061"/>
              </p:ext>
            </p:extLst>
          </p:nvPr>
        </p:nvGraphicFramePr>
        <p:xfrm>
          <a:off x="487375" y="1956814"/>
          <a:ext cx="11247120" cy="109728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주주명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지분율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허재원 (대표자)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법인 설립 예정 (예비창업자)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旣 투자 현황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해당없음 (현재까지 외부 투자 유치 이력 없음)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제안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1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· 건축 분야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442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건설사·철거전문업체·폐기물처리업체와의 협업 제안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현장 파일럿 확대 및 처리장 네트워크 전국 확장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데이터 공유를 통한 추천 알고리즘 고도화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41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07328" y="210312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모빌리티 분야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7328" y="2514600"/>
            <a:ext cx="50442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GPS·경로 최적화 기술 보유 기업과의 협업 제안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거리·경로 계산 정확도 향상 및 물류 최적화 기능 고도화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기반 공동 기술 검증(PoC) 추진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기대효과 및 기타사항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파트너사의 처리장·현장 네트워크를 활용한 조기 네트워크 확보 및 전국 확장 가속화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축적을 통한 총 운반비 계산 및 최적 처리장 추천 알고리즘의 정확도 지속 향상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현장 파일럿 수행을 통한 서비스 신뢰도 확보 및 매출 성장 가속화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기타사항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1277295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“하남시 </a:t>
            </a:r>
            <a:r>
              <a:rPr lang="en-US" sz="1300" i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</a:t>
            </a: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이루다</a:t>
            </a:r>
            <a:r>
              <a:rPr lang="en-US" altLang="ko-KR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00" i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프로그램을</a:t>
            </a: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통해 디몰링크(DEMOLINK)가 건설폐기물 처리 시장의 정보 비대칭과 비효율을 해소하는 대표 플랫폼으로 성장하겠습니다.”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1526</Words>
  <Application>Microsoft Office PowerPoint</Application>
  <PresentationFormat>와이드스크린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재원 허</cp:lastModifiedBy>
  <cp:revision>1</cp:revision>
  <dcterms:created xsi:type="dcterms:W3CDTF">2026-08-07T16:07:17Z</dcterms:created>
  <dcterms:modified xsi:type="dcterms:W3CDTF">2026-08-08T01:04:16Z</dcterms:modified>
</cp:coreProperties>
</file>